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5143500" type="screen16x9"/>
  <p:notesSz cx="5143500" cy="9144000"/>
  <p:embeddedFontLst>
    <p:embeddedFont>
      <p:font typeface="Bitter Medium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Open San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3698416-18F2-4345-91EA-39DED6F99914}">
          <p14:sldIdLst>
            <p14:sldId id="256"/>
          </p14:sldIdLst>
        </p14:section>
        <p14:section name="Untitled Section" id="{4109AE9B-8349-4EA5-9F80-CA69B6378274}">
          <p14:sldIdLst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67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pl-neon-pi.vercel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hyperlink" Target="https://github.com/23110572-hash/IPL-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44592" y="1818574"/>
            <a:ext cx="1376709" cy="243779"/>
          </a:xfrm>
          <a:prstGeom prst="roundRect">
            <a:avLst>
              <a:gd name="adj" fmla="val 17880"/>
            </a:avLst>
          </a:prstGeom>
          <a:solidFill>
            <a:srgbClr val="FCE2CF"/>
          </a:solidFill>
          <a:ln/>
        </p:spPr>
      </p:sp>
      <p:sp>
        <p:nvSpPr>
          <p:cNvPr id="6" name="Text 2"/>
          <p:cNvSpPr/>
          <p:nvPr/>
        </p:nvSpPr>
        <p:spPr>
          <a:xfrm>
            <a:off x="427538" y="1815746"/>
            <a:ext cx="12937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IPL CRUNCH '26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344592" y="2179296"/>
            <a:ext cx="6848687" cy="92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Uncovering the Hidden DNA of T20 Cricket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80372" y="2751205"/>
            <a:ext cx="6180667" cy="105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Moving beyond raw scores to discover the actual statistical drivers of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winning through ball-by-ball analysis of </a:t>
            </a:r>
            <a:r>
              <a:rPr lang="en-US" sz="14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280,000+ IPL </a:t>
            </a:r>
            <a:r>
              <a:rPr lang="en-US" sz="14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deliveries from </a:t>
            </a:r>
            <a:r>
              <a:rPr lang="en-US" sz="14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2008 to 2026</a:t>
            </a:r>
            <a:r>
              <a:rPr lang="en-US" sz="14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65AD1D-5CC1-40E1-8E73-929F68D12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722" y="94865"/>
            <a:ext cx="5231555" cy="5143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233E0F-DD90-487A-A6AA-0E387049A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151" y="4735033"/>
            <a:ext cx="1304657" cy="40846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53FC051-338B-40C1-BA1F-3D388243BADC}"/>
              </a:ext>
            </a:extLst>
          </p:cNvPr>
          <p:cNvSpPr/>
          <p:nvPr/>
        </p:nvSpPr>
        <p:spPr>
          <a:xfrm>
            <a:off x="258925" y="4495801"/>
            <a:ext cx="33681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 Agrawal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8" y="406152"/>
            <a:ext cx="1474921" cy="198611"/>
          </a:xfrm>
          <a:prstGeom prst="roundRect">
            <a:avLst>
              <a:gd name="adj" fmla="val 19187"/>
            </a:avLst>
          </a:prstGeom>
          <a:solidFill>
            <a:srgbClr val="FCE2CF"/>
          </a:solidFill>
          <a:ln/>
        </p:spPr>
      </p:sp>
      <p:sp>
        <p:nvSpPr>
          <p:cNvPr id="3" name="Text 1"/>
          <p:cNvSpPr/>
          <p:nvPr/>
        </p:nvSpPr>
        <p:spPr>
          <a:xfrm>
            <a:off x="564133" y="440159"/>
            <a:ext cx="1564853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MANDATORY QUESTION 1</a:t>
            </a: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641003"/>
            <a:ext cx="4085332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u="sng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Myth-Busting the Coin Toss</a:t>
            </a:r>
            <a:endParaRPr lang="en-US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1029042"/>
            <a:ext cx="8151763" cy="553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Does winning the toss actually matter?</a:t>
            </a:r>
            <a:r>
              <a:rPr lang="en-US" sz="14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Across 1218 Matches, the toss is highly overrated — historical outcomes show an almost perfectly even split.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96" y="1677675"/>
            <a:ext cx="4622778" cy="33029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79319" y="2061270"/>
            <a:ext cx="2673251" cy="1325463"/>
          </a:xfrm>
          <a:prstGeom prst="roundRect">
            <a:avLst>
              <a:gd name="adj" fmla="val 3594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84081" y="2066032"/>
            <a:ext cx="2663726" cy="657969"/>
          </a:xfrm>
          <a:prstGeom prst="roundRect">
            <a:avLst>
              <a:gd name="adj" fmla="val 7240"/>
            </a:avLst>
          </a:prstGeom>
          <a:solidFill>
            <a:srgbClr val="FCE2CF"/>
          </a:solidFill>
          <a:ln/>
        </p:spPr>
      </p:sp>
      <p:sp>
        <p:nvSpPr>
          <p:cNvPr id="9" name="Text 6"/>
          <p:cNvSpPr/>
          <p:nvPr/>
        </p:nvSpPr>
        <p:spPr>
          <a:xfrm>
            <a:off x="6097488" y="2179439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Toss Winners Win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97488" y="2447330"/>
            <a:ext cx="2894112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50.5%</a:t>
            </a: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of matches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84081" y="2724001"/>
            <a:ext cx="2663726" cy="657969"/>
          </a:xfrm>
          <a:prstGeom prst="rect">
            <a:avLst/>
          </a:prstGeom>
          <a:solidFill>
            <a:srgbClr val="FCE2CF"/>
          </a:solidFill>
          <a:ln/>
        </p:spPr>
      </p:sp>
      <p:sp>
        <p:nvSpPr>
          <p:cNvPr id="12" name="Shape 9"/>
          <p:cNvSpPr/>
          <p:nvPr/>
        </p:nvSpPr>
        <p:spPr>
          <a:xfrm>
            <a:off x="5984081" y="2724001"/>
            <a:ext cx="2663726" cy="14288"/>
          </a:xfrm>
          <a:prstGeom prst="roundRect">
            <a:avLst>
              <a:gd name="adj" fmla="val 333384"/>
            </a:avLst>
          </a:prstGeom>
          <a:solidFill>
            <a:srgbClr val="E2C8B5"/>
          </a:solidFill>
          <a:ln/>
        </p:spPr>
      </p:sp>
      <p:sp>
        <p:nvSpPr>
          <p:cNvPr id="13" name="Text 10"/>
          <p:cNvSpPr/>
          <p:nvPr/>
        </p:nvSpPr>
        <p:spPr>
          <a:xfrm>
            <a:off x="6097488" y="2837408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Toss Losers Win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97488" y="3105299"/>
            <a:ext cx="2894112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49.5%</a:t>
            </a: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of matches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979319" y="3488754"/>
            <a:ext cx="2673251" cy="1103566"/>
          </a:xfrm>
          <a:prstGeom prst="roundRect">
            <a:avLst>
              <a:gd name="adj" fmla="val 6375"/>
            </a:avLst>
          </a:prstGeom>
          <a:solidFill>
            <a:srgbClr val="B6D6FC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109" y="3635573"/>
            <a:ext cx="224414" cy="17953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47892" y="3605447"/>
            <a:ext cx="2191271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gap is statistically negligible. Winning the coin toss provides no meaningful competitive advantage in the IPL.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87E7474-12C4-4091-BC96-B6874B3A6DD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9258" t="21165" r="16506" b="70832"/>
          <a:stretch/>
        </p:blipFill>
        <p:spPr>
          <a:xfrm>
            <a:off x="7842241" y="4718157"/>
            <a:ext cx="1301759" cy="4115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0359" y="547132"/>
            <a:ext cx="1428627" cy="205002"/>
          </a:xfrm>
          <a:prstGeom prst="roundRect">
            <a:avLst>
              <a:gd name="adj" fmla="val 19187"/>
            </a:avLst>
          </a:prstGeom>
          <a:solidFill>
            <a:srgbClr val="FCE2CF"/>
          </a:solidFill>
          <a:ln/>
        </p:spPr>
      </p:sp>
      <p:sp>
        <p:nvSpPr>
          <p:cNvPr id="3" name="Text 1"/>
          <p:cNvSpPr/>
          <p:nvPr/>
        </p:nvSpPr>
        <p:spPr>
          <a:xfrm>
            <a:off x="737230" y="582811"/>
            <a:ext cx="1391756" cy="13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MANDATORY QUESTION 2</a:t>
            </a: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0359" y="798284"/>
            <a:ext cx="4482687" cy="36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u="sng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Where the Game Is Actually Played</a:t>
            </a:r>
            <a:endParaRPr lang="en-US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33689" y="1226596"/>
            <a:ext cx="7751698" cy="501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match splits into three phases: </a:t>
            </a:r>
            <a:r>
              <a:rPr lang="en-US" sz="12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Powerplay</a:t>
            </a: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(0–5), </a:t>
            </a:r>
            <a:r>
              <a:rPr lang="en-US" sz="12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Middle Overs</a:t>
            </a: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(6–14), and </a:t>
            </a:r>
            <a:r>
              <a:rPr lang="en-US" sz="12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Death Overs</a:t>
            </a: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(15–19).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Middle Overs</a:t>
            </a: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dominate both runs scored and wickets lost making them the </a:t>
            </a:r>
            <a:r>
              <a:rPr lang="en-US" sz="12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true pivot point of every IPL match</a:t>
            </a: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40" y="1824048"/>
            <a:ext cx="5938324" cy="280492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9112" y="1829313"/>
            <a:ext cx="2377548" cy="830677"/>
          </a:xfrm>
          <a:prstGeom prst="roundRect">
            <a:avLst>
              <a:gd name="adj" fmla="val 5701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76157" y="1906894"/>
            <a:ext cx="1667473" cy="18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🏏</a:t>
            </a: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 Powerplay (0–5)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514210" y="2169744"/>
            <a:ext cx="2167351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Explosive starts and limited wickets lost, Sets the tone.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9112" y="2730847"/>
            <a:ext cx="2377548" cy="855375"/>
          </a:xfrm>
          <a:prstGeom prst="roundRect">
            <a:avLst>
              <a:gd name="adj" fmla="val 5701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210" y="2825679"/>
            <a:ext cx="1735377" cy="18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⚡</a:t>
            </a: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 Middle Overs (6–14)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61623" y="3051551"/>
            <a:ext cx="2167351" cy="480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170K+ runs and 5.5K+ wickets. The true battleground.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09112" y="3657079"/>
            <a:ext cx="2377548" cy="855375"/>
          </a:xfrm>
          <a:prstGeom prst="roundRect">
            <a:avLst>
              <a:gd name="adj" fmla="val 5701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4210" y="3775248"/>
            <a:ext cx="1727038" cy="18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💥</a:t>
            </a: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 Death Overs (15–19)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61623" y="4001120"/>
            <a:ext cx="2167351" cy="45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High-risk finishing phase. Surviving the middle sets this up.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C3E9CB3-825B-4D81-AFA5-5701200313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258" t="21165" r="16506" b="70832"/>
          <a:stretch/>
        </p:blipFill>
        <p:spPr>
          <a:xfrm>
            <a:off x="7811311" y="4731906"/>
            <a:ext cx="1332690" cy="4213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0606"/>
            <a:ext cx="1553989" cy="266402"/>
          </a:xfrm>
          <a:prstGeom prst="roundRect">
            <a:avLst>
              <a:gd name="adj" fmla="val 17880"/>
            </a:avLst>
          </a:prstGeom>
          <a:solidFill>
            <a:srgbClr val="FCE2C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83096"/>
            <a:ext cx="184107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MANDATORY QUESTION 3</a:t>
            </a:r>
            <a:endParaRPr lang="en-US" sz="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763712"/>
            <a:ext cx="61794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u="sng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MVP Metrics: Volume vs. Efficiency</a:t>
            </a:r>
            <a:endParaRPr lang="en-US" sz="275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123124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Total Runs tell one story, Strike rate and economy reveal another. </a:t>
            </a:r>
            <a:r>
              <a:rPr lang="en-US" sz="14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elite performers combine both</a:t>
            </a:r>
            <a:r>
              <a:rPr lang="en-US" sz="11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71" y="1645920"/>
            <a:ext cx="5587200" cy="29445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24339" y="216929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u="sng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Top Batters</a:t>
            </a:r>
            <a:endParaRPr lang="en-US" sz="135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24339" y="2395398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Virat Kohli</a:t>
            </a:r>
            <a:r>
              <a:rPr lang="en-US" sz="11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leads in raw run volume. </a:t>
            </a:r>
            <a:r>
              <a:rPr lang="en-US" sz="11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AB de Villiers</a:t>
            </a:r>
            <a:r>
              <a:rPr lang="en-US" sz="11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(148.6 SR) defines maximum impact per delivery.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024339" y="321878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u="sng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Top Bowlers</a:t>
            </a:r>
            <a:endParaRPr lang="en-US" sz="135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24339" y="3460254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Yuzvendra Chahal</a:t>
            </a:r>
            <a:r>
              <a:rPr lang="en-US" sz="11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and </a:t>
            </a:r>
            <a:r>
              <a:rPr lang="en-US" sz="11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Bhuvneshwar Kumar</a:t>
            </a:r>
            <a:r>
              <a:rPr lang="en-US" sz="11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lead the pack, combining high wicket volume with elite economy rates across all IPL seasons.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D62D24-6F29-4081-9438-BAE2B32452C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258" t="21165" r="16506" b="70832"/>
          <a:stretch/>
        </p:blipFill>
        <p:spPr>
          <a:xfrm>
            <a:off x="7842241" y="4731906"/>
            <a:ext cx="1301759" cy="4115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24247"/>
            <a:ext cx="1264948" cy="178668"/>
          </a:xfrm>
          <a:prstGeom prst="roundRect">
            <a:avLst>
              <a:gd name="adj" fmla="val 18853"/>
            </a:avLst>
          </a:prstGeom>
          <a:solidFill>
            <a:srgbClr val="FCE2CF"/>
          </a:solidFill>
          <a:ln/>
        </p:spPr>
      </p:sp>
      <p:sp>
        <p:nvSpPr>
          <p:cNvPr id="3" name="Text 1"/>
          <p:cNvSpPr/>
          <p:nvPr/>
        </p:nvSpPr>
        <p:spPr>
          <a:xfrm>
            <a:off x="568375" y="524247"/>
            <a:ext cx="1391617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SECRET INSIGHT</a:t>
            </a: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743843"/>
            <a:ext cx="6531173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The Hidden Key to Winning: Strike Rotation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14" y="1203284"/>
            <a:ext cx="5348979" cy="38164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90554" y="1419300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u="sng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The Myth</a:t>
            </a:r>
            <a:r>
              <a:rPr lang="en-US" sz="1100" b="1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 -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90555" y="1617426"/>
            <a:ext cx="2662014" cy="683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T20 </a:t>
            </a:r>
            <a:r>
              <a:rPr lang="en-US" sz="11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is won by hitting the most boundaries  fours and sixes. </a:t>
            </a:r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More explosive power = more wins.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90553" y="2371874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u="sng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The Reality</a:t>
            </a:r>
            <a:r>
              <a:rPr 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-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90554" y="2581535"/>
            <a:ext cx="2801231" cy="939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Minimizing Dot Balls</a:t>
            </a:r>
            <a:r>
              <a:rPr lang="en-US" sz="11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is a stronger predictor of win percentage.</a:t>
            </a:r>
            <a:r>
              <a:rPr lang="en-US" sz="11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Teams like </a:t>
            </a:r>
            <a:r>
              <a:rPr lang="en-US" sz="11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CSK</a:t>
            </a:r>
            <a:r>
              <a:rPr lang="en-US" sz="11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and </a:t>
            </a:r>
            <a:r>
              <a:rPr lang="en-US" sz="11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GT</a:t>
            </a:r>
            <a:r>
              <a:rPr lang="en-US" sz="11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with lower dot ball percentages consistently sit at the top of the table.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990555" y="3704332"/>
            <a:ext cx="2662014" cy="819671"/>
          </a:xfrm>
          <a:prstGeom prst="roundRect">
            <a:avLst>
              <a:gd name="adj" fmla="val 6175"/>
            </a:avLst>
          </a:prstGeom>
          <a:solidFill>
            <a:srgbClr val="B6FCB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093" y="3781282"/>
            <a:ext cx="190455" cy="1523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43149" y="3748255"/>
            <a:ext cx="2149971" cy="651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Strike rotation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, not just boundary hitting, is the hidden statistical driver of IPL success</a:t>
            </a: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BC2105-1667-4F08-9B59-47EE3964120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9258" t="21165" r="16506" b="70832"/>
          <a:stretch/>
        </p:blipFill>
        <p:spPr>
          <a:xfrm>
            <a:off x="7842241" y="4772546"/>
            <a:ext cx="1301759" cy="4115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/>
          <p:cNvSpPr/>
          <p:nvPr/>
        </p:nvSpPr>
        <p:spPr>
          <a:xfrm>
            <a:off x="532154" y="536396"/>
            <a:ext cx="1120539" cy="181519"/>
          </a:xfrm>
          <a:prstGeom prst="roundRect">
            <a:avLst>
              <a:gd name="adj" fmla="val 0"/>
            </a:avLst>
          </a:prstGeom>
          <a:solidFill>
            <a:srgbClr val="FCE2CF"/>
          </a:solidFill>
          <a:ln/>
        </p:spPr>
      </p:sp>
      <p:sp>
        <p:nvSpPr>
          <p:cNvPr id="6" name="Text 2"/>
          <p:cNvSpPr/>
          <p:nvPr/>
        </p:nvSpPr>
        <p:spPr>
          <a:xfrm>
            <a:off x="572095" y="493820"/>
            <a:ext cx="1171575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CONCLUSION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0" y="1160453"/>
            <a:ext cx="9144000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00" dirty="0">
                <a:solidFill>
                  <a:srgbClr val="2C3F42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Thank You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-1" y="1681984"/>
            <a:ext cx="914399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This analysis processed </a:t>
            </a:r>
            <a:r>
              <a:rPr lang="en-US" sz="1200" b="1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280,000+ ball-by-ball records</a:t>
            </a: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to prove that data reveals the true DNA of T20 cricket.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700111" y="1981350"/>
            <a:ext cx="3732840" cy="1196206"/>
          </a:xfrm>
          <a:prstGeom prst="roundRect">
            <a:avLst>
              <a:gd name="adj" fmla="val 375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3809" y="2125638"/>
            <a:ext cx="2201540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🌐</a:t>
            </a:r>
            <a:r>
              <a:rPr lang="en-US" sz="135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Live Dashboard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23809" y="2384357"/>
            <a:ext cx="3431332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Deployed on Vercel with real-time data processing and interactive visualizations.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18268" y="2857054"/>
            <a:ext cx="24690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u="sng" dirty="0">
                <a:solidFill>
                  <a:srgbClr val="D2600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ipl-neon-pi.vercel.app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15971" y="1988424"/>
            <a:ext cx="3804220" cy="1196206"/>
          </a:xfrm>
          <a:prstGeom prst="roundRect">
            <a:avLst>
              <a:gd name="adj" fmla="val 375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41395" y="2083674"/>
            <a:ext cx="2222450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📂</a:t>
            </a:r>
            <a:r>
              <a:rPr lang="en-US" sz="135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GitHub Repository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641395" y="2349778"/>
            <a:ext cx="344780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Full source code, data pipeline, and documentation available for review.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641395" y="2881305"/>
            <a:ext cx="24690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u="sng" dirty="0">
                <a:solidFill>
                  <a:srgbClr val="D2600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Repository →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705931" y="3324292"/>
            <a:ext cx="7620080" cy="803877"/>
          </a:xfrm>
          <a:prstGeom prst="roundRect">
            <a:avLst>
              <a:gd name="adj" fmla="val 5654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8268" y="3458759"/>
            <a:ext cx="2201540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🎯</a:t>
            </a:r>
            <a:r>
              <a:rPr lang="en-US" sz="135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Key</a:t>
            </a:r>
            <a:r>
              <a:rPr lang="en-US" sz="1400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2B2E3C"/>
                </a:solidFill>
                <a:latin typeface="Times New Roman" panose="02020603050405020304" pitchFamily="18" charset="0"/>
                <a:ea typeface="Bitter Medium" pitchFamily="34" charset="-122"/>
                <a:cs typeface="Times New Roman" panose="02020603050405020304" pitchFamily="18" charset="0"/>
              </a:rPr>
              <a:t>Findings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23809" y="3705748"/>
            <a:ext cx="54008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Toss is irrelevant. Middle Overs decide matches. Strike rotation beats boundaries.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B384F23-1054-41C0-8558-B415F3A6295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9258" t="21165" r="16506" b="70832"/>
          <a:stretch/>
        </p:blipFill>
        <p:spPr>
          <a:xfrm>
            <a:off x="7842241" y="4752226"/>
            <a:ext cx="1301759" cy="4115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452</Words>
  <Application>Microsoft Office PowerPoint</Application>
  <PresentationFormat>On-screen Show (16:9)</PresentationFormat>
  <Paragraphs>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Times New Roman</vt:lpstr>
      <vt:lpstr>Open Sans</vt:lpstr>
      <vt:lpstr>Bitter Medium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krishna agrawal</cp:lastModifiedBy>
  <cp:revision>10</cp:revision>
  <dcterms:created xsi:type="dcterms:W3CDTF">2026-05-16T03:23:19Z</dcterms:created>
  <dcterms:modified xsi:type="dcterms:W3CDTF">2026-05-16T05:11:52Z</dcterms:modified>
</cp:coreProperties>
</file>